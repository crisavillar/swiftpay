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entury Gothic Paneuropean Bold" charset="1" panose="020B0702020202020204"/>
      <p:regular r:id="rId15"/>
    </p:embeddedFont>
    <p:embeddedFont>
      <p:font typeface="Century Gothic Paneuropean" charset="1" panose="020B050202020202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396813" y="1949584"/>
            <a:ext cx="13018493" cy="4344644"/>
          </a:xfrm>
          <a:prstGeom prst="rect">
            <a:avLst/>
          </a:prstGeom>
        </p:spPr>
        <p:txBody>
          <a:bodyPr anchor="t" rtlCol="false" tIns="0" lIns="0" bIns="0" rIns="0">
            <a:spAutoFit/>
          </a:bodyPr>
          <a:lstStyle/>
          <a:p>
            <a:pPr algn="ctr">
              <a:lnSpc>
                <a:spcPts val="17489"/>
              </a:lnSpc>
            </a:pPr>
            <a:r>
              <a:rPr lang="en-US" b="true" sz="12492">
                <a:solidFill>
                  <a:srgbClr val="000000"/>
                </a:solidFill>
                <a:latin typeface="Century Gothic Paneuropean Bold"/>
                <a:ea typeface="Century Gothic Paneuropean Bold"/>
                <a:cs typeface="Century Gothic Paneuropean Bold"/>
                <a:sym typeface="Century Gothic Paneuropean Bold"/>
              </a:rPr>
              <a:t>SWIFTPAY : A MINI PAYROLL</a:t>
            </a:r>
          </a:p>
        </p:txBody>
      </p:sp>
      <p:sp>
        <p:nvSpPr>
          <p:cNvPr name="TextBox 3" id="3"/>
          <p:cNvSpPr txBox="true"/>
          <p:nvPr/>
        </p:nvSpPr>
        <p:spPr>
          <a:xfrm rot="0">
            <a:off x="4882925" y="6433801"/>
            <a:ext cx="8522150" cy="1058648"/>
          </a:xfrm>
          <a:prstGeom prst="rect">
            <a:avLst/>
          </a:prstGeom>
        </p:spPr>
        <p:txBody>
          <a:bodyPr anchor="t" rtlCol="false" tIns="0" lIns="0" bIns="0" rIns="0">
            <a:spAutoFit/>
          </a:bodyPr>
          <a:lstStyle/>
          <a:p>
            <a:pPr algn="ctr">
              <a:lnSpc>
                <a:spcPts val="8642"/>
              </a:lnSpc>
            </a:pPr>
            <a:r>
              <a:rPr lang="en-US" sz="6173">
                <a:solidFill>
                  <a:srgbClr val="000000"/>
                </a:solidFill>
                <a:latin typeface="Century Gothic Paneuropean"/>
                <a:ea typeface="Century Gothic Paneuropean"/>
                <a:cs typeface="Century Gothic Paneuropean"/>
                <a:sym typeface="Century Gothic Paneuropean"/>
              </a:rPr>
              <a:t>By SheCodes</a:t>
            </a: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2585993" y="1693058"/>
            <a:ext cx="12993912" cy="2839915"/>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PROJECT DESCRIPTION:</a:t>
            </a:r>
          </a:p>
          <a:p>
            <a:pPr algn="ctr">
              <a:lnSpc>
                <a:spcPts val="11469"/>
              </a:lnSpc>
            </a:pPr>
          </a:p>
        </p:txBody>
      </p:sp>
      <p:sp>
        <p:nvSpPr>
          <p:cNvPr name="TextBox 9" id="9"/>
          <p:cNvSpPr txBox="true"/>
          <p:nvPr/>
        </p:nvSpPr>
        <p:spPr>
          <a:xfrm rot="0">
            <a:off x="1939795" y="3661219"/>
            <a:ext cx="14779147" cy="4780528"/>
          </a:xfrm>
          <a:prstGeom prst="rect">
            <a:avLst/>
          </a:prstGeom>
        </p:spPr>
        <p:txBody>
          <a:bodyPr anchor="t" rtlCol="false" tIns="0" lIns="0" bIns="0" rIns="0">
            <a:spAutoFit/>
          </a:bodyPr>
          <a:lstStyle/>
          <a:p>
            <a:pPr algn="l">
              <a:lnSpc>
                <a:spcPts val="6356"/>
              </a:lnSpc>
            </a:pPr>
            <a:r>
              <a:rPr lang="en-US" sz="4540">
                <a:solidFill>
                  <a:srgbClr val="000000"/>
                </a:solidFill>
                <a:latin typeface="Century Gothic Paneuropean"/>
                <a:ea typeface="Century Gothic Paneuropean"/>
                <a:cs typeface="Century Gothic Paneuropean"/>
                <a:sym typeface="Century Gothic Paneuropean"/>
              </a:rPr>
              <a:t>     SwiftPay is a user-friendly payroll management system crafted for small to medium-sized businesses. It automates payroll processing to ensure accurate salary calculations, simplifies employee management, and secures sensitive payroll data.</a:t>
            </a:r>
          </a:p>
          <a:p>
            <a:pPr algn="l">
              <a:lnSpc>
                <a:spcPts val="6356"/>
              </a:lnSpc>
            </a:pPr>
          </a:p>
        </p:txBody>
      </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82825" y="1634197"/>
            <a:ext cx="12322349" cy="2845892"/>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SPECIFIC OBJECTIVES:</a:t>
            </a:r>
          </a:p>
          <a:p>
            <a:pPr algn="ctr">
              <a:lnSpc>
                <a:spcPts val="11469"/>
              </a:lnSpc>
            </a:pPr>
          </a:p>
        </p:txBody>
      </p:sp>
      <p:sp>
        <p:nvSpPr>
          <p:cNvPr name="TextBox 3" id="3"/>
          <p:cNvSpPr txBox="true"/>
          <p:nvPr/>
        </p:nvSpPr>
        <p:spPr>
          <a:xfrm rot="0">
            <a:off x="2184401" y="3569801"/>
            <a:ext cx="15074899" cy="6234043"/>
          </a:xfrm>
          <a:prstGeom prst="rect">
            <a:avLst/>
          </a:prstGeom>
        </p:spPr>
        <p:txBody>
          <a:bodyPr anchor="t" rtlCol="false" tIns="0" lIns="0" bIns="0" rIns="0">
            <a:spAutoFit/>
          </a:bodyPr>
          <a:lstStyle/>
          <a:p>
            <a:pPr algn="l">
              <a:lnSpc>
                <a:spcPts val="5516"/>
              </a:lnSpc>
            </a:pPr>
            <a:r>
              <a:rPr lang="en-US" sz="3940">
                <a:solidFill>
                  <a:srgbClr val="000000"/>
                </a:solidFill>
                <a:latin typeface="Century Gothic Paneuropean"/>
                <a:ea typeface="Century Gothic Paneuropean"/>
                <a:cs typeface="Century Gothic Paneuropean"/>
                <a:sym typeface="Century Gothic Paneuropean"/>
              </a:rPr>
              <a:t> </a:t>
            </a:r>
            <a:r>
              <a:rPr lang="en-US" sz="3940">
                <a:solidFill>
                  <a:srgbClr val="000000"/>
                </a:solidFill>
                <a:latin typeface="Century Gothic Paneuropean"/>
                <a:ea typeface="Century Gothic Paneuropean"/>
                <a:cs typeface="Century Gothic Paneuropean"/>
                <a:sym typeface="Century Gothic Paneuropean"/>
              </a:rPr>
              <a:t>1. User Authentication &amp; Role Management</a:t>
            </a:r>
          </a:p>
          <a:p>
            <a:pPr algn="l" marL="850701" indent="-425350" lvl="1">
              <a:lnSpc>
                <a:spcPts val="5516"/>
              </a:lnSpc>
              <a:buFont typeface="Arial"/>
              <a:buChar char="•"/>
            </a:pPr>
            <a:r>
              <a:rPr lang="en-US" sz="3940">
                <a:solidFill>
                  <a:srgbClr val="000000"/>
                </a:solidFill>
                <a:latin typeface="Century Gothic Paneuropean"/>
                <a:ea typeface="Century Gothic Paneuropean"/>
                <a:cs typeface="Century Gothic Paneuropean"/>
                <a:sym typeface="Century Gothic Paneuropean"/>
              </a:rPr>
              <a:t> Secure login system with role-based access for admins and employees. </a:t>
            </a:r>
          </a:p>
          <a:p>
            <a:pPr algn="l">
              <a:lnSpc>
                <a:spcPts val="5516"/>
              </a:lnSpc>
            </a:pPr>
            <a:r>
              <a:rPr lang="en-US" sz="3940">
                <a:solidFill>
                  <a:srgbClr val="000000"/>
                </a:solidFill>
                <a:latin typeface="Century Gothic Paneuropean"/>
                <a:ea typeface="Century Gothic Paneuropean"/>
                <a:cs typeface="Century Gothic Paneuropean"/>
                <a:sym typeface="Century Gothic Paneuropean"/>
              </a:rPr>
              <a:t>2. Employee Management Module </a:t>
            </a:r>
          </a:p>
          <a:p>
            <a:pPr algn="l" marL="850701" indent="-425350" lvl="1">
              <a:lnSpc>
                <a:spcPts val="5516"/>
              </a:lnSpc>
              <a:buFont typeface="Arial"/>
              <a:buChar char="•"/>
            </a:pPr>
            <a:r>
              <a:rPr lang="en-US" sz="3940">
                <a:solidFill>
                  <a:srgbClr val="000000"/>
                </a:solidFill>
                <a:latin typeface="Century Gothic Paneuropean"/>
                <a:ea typeface="Century Gothic Paneuropean"/>
                <a:cs typeface="Century Gothic Paneuropean"/>
                <a:sym typeface="Century Gothic Paneuropean"/>
              </a:rPr>
              <a:t>Allows admins to add, update, and manage employee details, including roles, positions, and salaries.</a:t>
            </a:r>
          </a:p>
          <a:p>
            <a:pPr algn="l">
              <a:lnSpc>
                <a:spcPts val="5516"/>
              </a:lnSpc>
            </a:pPr>
          </a:p>
          <a:p>
            <a:pPr algn="l">
              <a:lnSpc>
                <a:spcPts val="5516"/>
              </a:lnSpc>
            </a:pPr>
          </a:p>
          <a:p>
            <a:pPr algn="l">
              <a:lnSpc>
                <a:spcPts val="5516"/>
              </a:lnSpc>
            </a:pP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69057" y="1557111"/>
            <a:ext cx="15160153" cy="7087054"/>
          </a:xfrm>
          <a:prstGeom prst="rect">
            <a:avLst/>
          </a:prstGeom>
        </p:spPr>
        <p:txBody>
          <a:bodyPr anchor="t" rtlCol="false" tIns="0" lIns="0" bIns="0" rIns="0">
            <a:spAutoFit/>
          </a:bodyPr>
          <a:lstStyle/>
          <a:p>
            <a:pPr algn="l">
              <a:lnSpc>
                <a:spcPts val="6274"/>
              </a:lnSpc>
            </a:pPr>
            <a:r>
              <a:rPr lang="en-US" sz="4482">
                <a:solidFill>
                  <a:srgbClr val="000000"/>
                </a:solidFill>
                <a:latin typeface="Century Gothic Paneuropean"/>
                <a:ea typeface="Century Gothic Paneuropean"/>
                <a:cs typeface="Century Gothic Paneuropean"/>
                <a:sym typeface="Century Gothic Paneuropean"/>
              </a:rPr>
              <a:t>3. Automated Salary Calculation</a:t>
            </a:r>
            <a:r>
              <a:rPr lang="en-US" sz="4482">
                <a:solidFill>
                  <a:srgbClr val="000000"/>
                </a:solidFill>
                <a:latin typeface="Century Gothic Paneuropean"/>
                <a:ea typeface="Century Gothic Paneuropean"/>
                <a:cs typeface="Century Gothic Paneuropean"/>
                <a:sym typeface="Century Gothic Paneuropean"/>
              </a:rPr>
              <a:t> </a:t>
            </a:r>
          </a:p>
          <a:p>
            <a:pPr algn="l" marL="967695" indent="-483847" lvl="1">
              <a:lnSpc>
                <a:spcPts val="6274"/>
              </a:lnSpc>
              <a:buFont typeface="Arial"/>
              <a:buChar char="•"/>
            </a:pPr>
            <a:r>
              <a:rPr lang="en-US" sz="4482">
                <a:solidFill>
                  <a:srgbClr val="000000"/>
                </a:solidFill>
                <a:latin typeface="Century Gothic Paneuropean"/>
                <a:ea typeface="Century Gothic Paneuropean"/>
                <a:cs typeface="Century Gothic Paneuropean"/>
                <a:sym typeface="Century Gothic Paneuropean"/>
              </a:rPr>
              <a:t>Calculates employee salaries based on workdays and basic pay, ensuring accurate payroll processing. </a:t>
            </a:r>
          </a:p>
          <a:p>
            <a:pPr algn="l">
              <a:lnSpc>
                <a:spcPts val="6274"/>
              </a:lnSpc>
            </a:pPr>
            <a:r>
              <a:rPr lang="en-US" sz="4482">
                <a:solidFill>
                  <a:srgbClr val="000000"/>
                </a:solidFill>
                <a:latin typeface="Century Gothic Paneuropean"/>
                <a:ea typeface="Century Gothic Paneuropean"/>
                <a:cs typeface="Century Gothic Paneuropean"/>
                <a:sym typeface="Century Gothic Paneuropean"/>
              </a:rPr>
              <a:t>4. Payslip Generation &amp; Access</a:t>
            </a:r>
          </a:p>
          <a:p>
            <a:pPr algn="l" marL="967695" indent="-483847" lvl="1">
              <a:lnSpc>
                <a:spcPts val="6274"/>
              </a:lnSpc>
              <a:buFont typeface="Arial"/>
              <a:buChar char="•"/>
            </a:pPr>
            <a:r>
              <a:rPr lang="en-US" sz="4482">
                <a:solidFill>
                  <a:srgbClr val="000000"/>
                </a:solidFill>
                <a:latin typeface="Century Gothic Paneuropean"/>
                <a:ea typeface="Century Gothic Paneuropean"/>
                <a:cs typeface="Century Gothic Paneuropean"/>
                <a:sym typeface="Century Gothic Paneuropean"/>
              </a:rPr>
              <a:t> Generates detailed payslips for each employee, enabling easy viewing and downloading from the dashboard.</a:t>
            </a:r>
          </a:p>
          <a:p>
            <a:pPr algn="l">
              <a:lnSpc>
                <a:spcPts val="6274"/>
              </a:lnSpc>
            </a:pP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85948" y="1193263"/>
            <a:ext cx="14316103" cy="1395104"/>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STATEMENT OF THE PROBLEM:</a:t>
            </a:r>
          </a:p>
        </p:txBody>
      </p:sp>
      <p:sp>
        <p:nvSpPr>
          <p:cNvPr name="TextBox 3" id="3"/>
          <p:cNvSpPr txBox="true"/>
          <p:nvPr/>
        </p:nvSpPr>
        <p:spPr>
          <a:xfrm rot="0">
            <a:off x="1670208" y="2776244"/>
            <a:ext cx="14951009" cy="6230868"/>
          </a:xfrm>
          <a:prstGeom prst="rect">
            <a:avLst/>
          </a:prstGeom>
        </p:spPr>
        <p:txBody>
          <a:bodyPr anchor="t" rtlCol="false" tIns="0" lIns="0" bIns="0" rIns="0">
            <a:spAutoFit/>
          </a:bodyPr>
          <a:lstStyle/>
          <a:p>
            <a:pPr algn="l">
              <a:lnSpc>
                <a:spcPts val="6216"/>
              </a:lnSpc>
            </a:pPr>
            <a:r>
              <a:rPr lang="en-US" sz="4440">
                <a:solidFill>
                  <a:srgbClr val="000000"/>
                </a:solidFill>
                <a:latin typeface="Century Gothic Paneuropean"/>
                <a:ea typeface="Century Gothic Paneuropean"/>
                <a:cs typeface="Century Gothic Paneuropean"/>
                <a:sym typeface="Century Gothic Paneuropean"/>
              </a:rPr>
              <a:t>     Small and medium-sized enterprises (SMEs) often encounter payroll challenges due to manual salary calculations, and a lack of automation for payslip generation, leading to errors and delays. SwiftPay addresses these issues by automating salary calculations, simplifying employee management, and generating accurate payslips, ultimately streamlining payroll processes for SMEs.</a:t>
            </a: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5411" y="1690069"/>
            <a:ext cx="8537178" cy="1395104"/>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CONCLUSION</a:t>
            </a:r>
          </a:p>
        </p:txBody>
      </p:sp>
      <p:sp>
        <p:nvSpPr>
          <p:cNvPr name="TextBox 3" id="3"/>
          <p:cNvSpPr txBox="true"/>
          <p:nvPr/>
        </p:nvSpPr>
        <p:spPr>
          <a:xfrm rot="0">
            <a:off x="3109407" y="4086777"/>
            <a:ext cx="12069186" cy="1888737"/>
          </a:xfrm>
          <a:prstGeom prst="rect">
            <a:avLst/>
          </a:prstGeom>
        </p:spPr>
        <p:txBody>
          <a:bodyPr anchor="t" rtlCol="false" tIns="0" lIns="0" bIns="0" rIns="0">
            <a:spAutoFit/>
          </a:bodyPr>
          <a:lstStyle/>
          <a:p>
            <a:pPr algn="l" marL="785932" indent="-392966" lvl="1">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Lorem ipsum dolor sit amet, consectetur adipiscing elit. Duis vel dolor ante. Nullam feugiat egestas elit et vehicula.</a:t>
            </a:r>
          </a:p>
        </p:txBody>
      </p:sp>
      <p:sp>
        <p:nvSpPr>
          <p:cNvPr name="TextBox 4" id="4"/>
          <p:cNvSpPr txBox="true"/>
          <p:nvPr/>
        </p:nvSpPr>
        <p:spPr>
          <a:xfrm rot="0">
            <a:off x="3109407" y="6166014"/>
            <a:ext cx="12069186" cy="1888737"/>
          </a:xfrm>
          <a:prstGeom prst="rect">
            <a:avLst/>
          </a:prstGeom>
        </p:spPr>
        <p:txBody>
          <a:bodyPr anchor="t" rtlCol="false" tIns="0" lIns="0" bIns="0" rIns="0">
            <a:spAutoFit/>
          </a:bodyPr>
          <a:lstStyle/>
          <a:p>
            <a:pPr algn="l" marL="785932" indent="-392966" lvl="1">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Lorem ipsum dolor sit amet, consectetur adipiscing elit. Duis vel dolor ante. Nullam feugiat egestas elit et vehicula.</a:t>
            </a:r>
          </a:p>
        </p:txBody>
      </p:sp>
      <p:grpSp>
        <p:nvGrpSpPr>
          <p:cNvPr name="Group 5" id="5"/>
          <p:cNvGrpSpPr/>
          <p:nvPr/>
        </p:nvGrpSpPr>
        <p:grpSpPr>
          <a:xfrm rot="0">
            <a:off x="16718943" y="-989670"/>
            <a:ext cx="1080715" cy="2956684"/>
            <a:chOff x="0" y="0"/>
            <a:chExt cx="284633" cy="778715"/>
          </a:xfrm>
        </p:grpSpPr>
        <p:sp>
          <p:nvSpPr>
            <p:cNvPr name="Freeform 6" id="6"/>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7" id="7"/>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29352" y="9803843"/>
            <a:ext cx="19346704" cy="821917"/>
            <a:chOff x="0" y="0"/>
            <a:chExt cx="5095428" cy="216472"/>
          </a:xfrm>
        </p:grpSpPr>
        <p:sp>
          <p:nvSpPr>
            <p:cNvPr name="Freeform 9" id="9"/>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10" id="10"/>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488343" y="-989670"/>
            <a:ext cx="1080715" cy="2956684"/>
            <a:chOff x="0" y="0"/>
            <a:chExt cx="284633" cy="778715"/>
          </a:xfrm>
        </p:grpSpPr>
        <p:sp>
          <p:nvSpPr>
            <p:cNvPr name="Freeform 14" id="1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5" id="1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5411" y="1690069"/>
            <a:ext cx="8537178" cy="1395104"/>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RESULT</a:t>
            </a:r>
          </a:p>
        </p:txBody>
      </p:sp>
      <p:sp>
        <p:nvSpPr>
          <p:cNvPr name="TextBox 3" id="3"/>
          <p:cNvSpPr txBox="true"/>
          <p:nvPr/>
        </p:nvSpPr>
        <p:spPr>
          <a:xfrm rot="0">
            <a:off x="3048121" y="4086777"/>
            <a:ext cx="12191758" cy="1888737"/>
          </a:xfrm>
          <a:prstGeom prst="rect">
            <a:avLst/>
          </a:prstGeom>
        </p:spPr>
        <p:txBody>
          <a:bodyPr anchor="t" rtlCol="false" tIns="0" lIns="0" bIns="0" rIns="0">
            <a:spAutoFit/>
          </a:bodyPr>
          <a:lstStyle/>
          <a:p>
            <a:pPr algn="l" marL="785932" indent="-392966" lvl="1">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Lorem ipsum dolor sit amet, consectetur adipiscing elit. Duis vel dolor ante. Nullam feugiat egestas elit et vehicula.</a:t>
            </a:r>
          </a:p>
        </p:txBody>
      </p:sp>
      <p:sp>
        <p:nvSpPr>
          <p:cNvPr name="TextBox 4" id="4"/>
          <p:cNvSpPr txBox="true"/>
          <p:nvPr/>
        </p:nvSpPr>
        <p:spPr>
          <a:xfrm rot="0">
            <a:off x="3048121" y="6166014"/>
            <a:ext cx="12191758" cy="1888737"/>
          </a:xfrm>
          <a:prstGeom prst="rect">
            <a:avLst/>
          </a:prstGeom>
        </p:spPr>
        <p:txBody>
          <a:bodyPr anchor="t" rtlCol="false" tIns="0" lIns="0" bIns="0" rIns="0">
            <a:spAutoFit/>
          </a:bodyPr>
          <a:lstStyle/>
          <a:p>
            <a:pPr algn="l" marL="785932" indent="-392966" lvl="1">
              <a:lnSpc>
                <a:spcPts val="5096"/>
              </a:lnSpc>
              <a:buFont typeface="Arial"/>
              <a:buChar char="•"/>
            </a:pPr>
            <a:r>
              <a:rPr lang="en-US" sz="3640">
                <a:solidFill>
                  <a:srgbClr val="000000"/>
                </a:solidFill>
                <a:latin typeface="Century Gothic Paneuropean"/>
                <a:ea typeface="Century Gothic Paneuropean"/>
                <a:cs typeface="Century Gothic Paneuropean"/>
                <a:sym typeface="Century Gothic Paneuropean"/>
              </a:rPr>
              <a:t>Lorem ipsum dolor sit amet, consectetur adipiscing elit. Duis vel dolor ante. Nullam feugiat egestas elit et vehicula.</a:t>
            </a:r>
          </a:p>
        </p:txBody>
      </p:sp>
      <p:grpSp>
        <p:nvGrpSpPr>
          <p:cNvPr name="Group 5" id="5"/>
          <p:cNvGrpSpPr/>
          <p:nvPr/>
        </p:nvGrpSpPr>
        <p:grpSpPr>
          <a:xfrm rot="0">
            <a:off x="16718943" y="-989670"/>
            <a:ext cx="1080715" cy="2956684"/>
            <a:chOff x="0" y="0"/>
            <a:chExt cx="284633" cy="778715"/>
          </a:xfrm>
        </p:grpSpPr>
        <p:sp>
          <p:nvSpPr>
            <p:cNvPr name="Freeform 6" id="6"/>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7" id="7"/>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29352" y="9803843"/>
            <a:ext cx="19346704" cy="821917"/>
            <a:chOff x="0" y="0"/>
            <a:chExt cx="5095428" cy="216472"/>
          </a:xfrm>
        </p:grpSpPr>
        <p:sp>
          <p:nvSpPr>
            <p:cNvPr name="Freeform 9" id="9"/>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10" id="10"/>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488343" y="-989670"/>
            <a:ext cx="1080715" cy="2956684"/>
            <a:chOff x="0" y="0"/>
            <a:chExt cx="284633" cy="778715"/>
          </a:xfrm>
        </p:grpSpPr>
        <p:sp>
          <p:nvSpPr>
            <p:cNvPr name="Freeform 14" id="1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5" id="1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75411" y="1690069"/>
            <a:ext cx="8537178" cy="1395104"/>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ANALYSIS</a:t>
            </a:r>
          </a:p>
        </p:txBody>
      </p:sp>
      <p:sp>
        <p:nvSpPr>
          <p:cNvPr name="TextBox 3" id="3"/>
          <p:cNvSpPr txBox="true"/>
          <p:nvPr/>
        </p:nvSpPr>
        <p:spPr>
          <a:xfrm rot="0">
            <a:off x="2732445" y="4086777"/>
            <a:ext cx="12823110" cy="3849268"/>
          </a:xfrm>
          <a:prstGeom prst="rect">
            <a:avLst/>
          </a:prstGeom>
        </p:spPr>
        <p:txBody>
          <a:bodyPr anchor="t" rtlCol="false" tIns="0" lIns="0" bIns="0" rIns="0">
            <a:spAutoFit/>
          </a:bodyPr>
          <a:lstStyle/>
          <a:p>
            <a:pPr algn="ctr">
              <a:lnSpc>
                <a:spcPts val="5096"/>
              </a:lnSpc>
            </a:pPr>
            <a:r>
              <a:rPr lang="en-US" sz="3640">
                <a:solidFill>
                  <a:srgbClr val="000000"/>
                </a:solidFill>
                <a:latin typeface="Century Gothic Paneuropean"/>
                <a:ea typeface="Century Gothic Paneuropean"/>
                <a:cs typeface="Century Gothic Paneuropean"/>
                <a:sym typeface="Century Gothic Paneuropean"/>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50481" y="4013348"/>
            <a:ext cx="12387037" cy="2031703"/>
          </a:xfrm>
          <a:prstGeom prst="rect">
            <a:avLst/>
          </a:prstGeom>
        </p:spPr>
        <p:txBody>
          <a:bodyPr anchor="t" rtlCol="false" tIns="0" lIns="0" bIns="0" rIns="0">
            <a:spAutoFit/>
          </a:bodyPr>
          <a:lstStyle/>
          <a:p>
            <a:pPr algn="ctr">
              <a:lnSpc>
                <a:spcPts val="16641"/>
              </a:lnSpc>
            </a:pPr>
            <a:r>
              <a:rPr lang="en-US" b="true" sz="11886">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DAGU3S5iWkE</dc:identifier>
  <dcterms:modified xsi:type="dcterms:W3CDTF">2011-08-01T06:04:30Z</dcterms:modified>
  <cp:revision>1</cp:revision>
  <dc:title>Swiftpay</dc:title>
</cp:coreProperties>
</file>